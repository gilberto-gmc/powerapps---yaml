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9c542d0-96a8-eb95-d36d-afe322cb6bdb}">
          <p14:sldIdLst>
            <p14:sldId id="256"/>
          </p14:sldIdLst>
        </p14:section>
        <p14:section name="Aviação geral" id="{073e2b8a-31b4-04e5-8fa0-68f334cd3b56}">
          <p14:sldIdLst>
            <p14:sldId id="257"/>
            <p14:sldId id="258"/>
            <p14:sldId id="259"/>
            <p14:sldId id="260"/>
            <p14:sldId id="261"/>
          </p14:sldIdLst>
        </p14:section>
        <p14:section name="Voo regular" id="{2f8b77a7-b28a-5339-cc15-0fd87c8f8f5f}">
          <p14:sldIdLst>
            <p14:sldId id="262"/>
          </p14:sldIdLst>
        </p14:section>
        <p14:section name="Próximos passos" id="{601321d3-3971-9686-133b-64392620f4c6}">
          <p14:sldIdLst>
            <p14:sldId id="263"/>
            <p14:sldId id="264"/>
          </p14:sldIdLst>
        </p14:section>
        <p14:section name="Fecho" id="{09348d63-76b9-65db-b314-ca5b443f240a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Abertura, 1 min.
Agradecer o tempo de todos.
Dizer o objetivo: mostrar como a reserva de pátio da aviação geral passa a ser feita dentro do AirportNow, incluindo o agendamento dos voos internacionais com os órgãos.
Já está rodando em Navegantes e em Foz do Iguaçu.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era e como fica, 2 a 3 min.
Perguntar para a sala como cada aeroporto controla hoje a reserva de AG. Deixar um ou dois responderem.
Depois ler a coluna da direita, sem pressa.
Pontos para reforçar: todo mundo vê a mesma reserva, o app barra a posição ocupada, e o aviso aos órgãos sai pronto.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Fazendo uma reserva, 4 min. Mostrar no app.
Abrir Navegantes, Mapa do Dia.
Criar uma reserva com a matrícula de teste. Mostrar o equipamento sugerido.
Escolher posição, entrada e saída. Salvar.
Mostrar o bloco aparecendo na grade.
Depois tentar outra reserva na mesma posição e horário. O app recusa e mostra quem está lá. Esse é o ponto principal da demo.
Lembrar de apagar as reservas de teste no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Acompanhando o pátio, 3 min. Mostrar no app.
Abrir o painel RESERVAS DE PÁTIO.
Mostrar a separação por mês e o HOJE em destaque.
Usar o filtro de situação.
Clicar em IR AO DIA numa reserva.
Se tiver alguma aeronave no pátio, mostrar o NO PÁTIO no bloco.
Mostrar rápido o painel do hangar.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Voo internacional, 5 min. Mostrar no app. É a parte que mais interessa a eles.
Abrir uma reserva marcada como internacional e clicar em AVISO.
Trocar entre chegada e saída e mostrar o texto mudando.
Preencher imigração, procedência, tripulantes e passageiros.
Mostrar o cartão e o TIRAR PRINT.
Comentar que o mesmo vale para aeronave saindo do hangar.
Se perguntarem: o cabeçalho da grade mostra quantos internacionais tem no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Regras, 3 min.
Passar linha a linha.
Bloqueia as vizinhas: quando entra uma aeronave grande, as posições ao lado aparecem como INDISPONÍVEL na grade. Ninguém precisa lembrar.
Alternativa: a aeronave que só vem se precisar desviar. O app não trava o box por causa dela, só avisa e o supervisor decide. Voo confirmado tem prioridade.
Fechar dizendo que cada aeroporto cadastra as próprias medidas e restrições.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Voo regular, 2 min. Rápido.
Mostrar a grade de Navegantes com voos e reservas juntos.
A importação é só citar: a planilha do mês entra pela tela de importação e vira grade.
Não entrar em detalhe de pareamento.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levantar, 2 min.
Deixar claro que quase tudo já existe no aeroporto, principalmente no quadro de mix de aeronaves.
Avisar que eu vou procurar cada um para fazer o levantamento junto.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eu preciso, 2 min.
Pedir os três itens.
Tentar sair da reunião com pelo menos o nome do contato de cada aeroporto.
Se a Andreza quiser falar de prazo, passar a palavra para ela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Dúvidas, o tempo que sobrar.
Substitui o Ares? Não. O registro oficial continua no Ares.
Quem pode mexer? Quem tem acesso pelo AirportNow. Cada um vê o próprio aeroporto.
Dá para tirar relatório? Sim, a programação exporta em planilha com quem lançou e quando.
Quanto tempo para implantar? Depende do levantamento do pátio. O cadastro em si é rápido.
O que não souber, anotar e responder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6400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Mapa de Alocação  ·  AirportNow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7FB3BC"/>
                </a:solidFill>
              </a:rPr>
              <a:t>ASUR BRASIL  ·  AIRPORTNOW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0312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Mapa de Alocação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749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D9DE"/>
                </a:solidFill>
              </a:rPr>
              <a:t>Reserva e controle do pátio da aviação geral, com voos internacionais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6692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B3BC"/>
                </a:solidFill>
              </a:rPr>
              <a:t>Apresentação aos gerentes dos aeroportos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384048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Reserva de aviação geral: como era e como fica</a:t>
            </a:r>
            <a:endParaRPr lang="en-US" sz="3400" dirty="0"/>
          </a:p>
        </p:txBody>
      </p:sp>
      <p:sp>
        <p:nvSpPr>
          <p:cNvPr id="3" name="antes"/>
          <p:cNvSpPr/>
          <p:nvPr/>
        </p:nvSpPr>
        <p:spPr>
          <a:xfrm>
            <a:off x="685800" y="1325880"/>
            <a:ext cx="5180076" cy="4526280"/>
          </a:xfrm>
          <a:prstGeom prst="roundRect">
            <a:avLst>
              <a:gd name="adj" fmla="val 202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agora"/>
          <p:cNvSpPr/>
          <p:nvPr/>
        </p:nvSpPr>
        <p:spPr>
          <a:xfrm>
            <a:off x="6323076" y="1325880"/>
            <a:ext cx="5180076" cy="4526280"/>
          </a:xfrm>
          <a:prstGeom prst="roundRect">
            <a:avLst>
              <a:gd name="adj" fmla="val 2020"/>
            </a:avLst>
          </a:prstGeom>
          <a:solidFill>
            <a:srgbClr val="EAF5F6"/>
          </a:solidFill>
          <a:ln w="12700">
            <a:solidFill>
              <a:srgbClr val="9FC9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572768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</a:rPr>
              <a:t>ANTES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707124" y="1572768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C"/>
                </a:solidFill>
              </a:rPr>
              <a:t>COM O MAPA DE ALOCAÇÃO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88136" y="232257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99032" y="2148840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</a:rPr>
              <a:t>Reserva anotada fora do mapa do pátio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088136" y="3035808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99032" y="2862072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</a:rPr>
              <a:t>O turno seguinte depende do repasse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088136" y="3749040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99032" y="3575304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</a:rPr>
              <a:t>Conflito de posição aparece quando a aeronave chega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088136" y="4462272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99032" y="4288536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</a:rPr>
              <a:t>Aviso aos órgãos escrito do zero a cada voo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088136" y="5175504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99032" y="5001768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</a:rPr>
              <a:t>Difícil saber quem reservou e quando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725412" y="2322576"/>
            <a:ext cx="146304" cy="146304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36308" y="2148840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</a:rPr>
              <a:t>Reserva lançada direto no mapa, pela matrícula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725412" y="3035808"/>
            <a:ext cx="146304" cy="146304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36308" y="2862072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</a:rPr>
              <a:t>Qualquer turno abre a tela e vê o que está reservado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725412" y="3749040"/>
            <a:ext cx="146304" cy="146304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36308" y="3575304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</a:rPr>
              <a:t>O app não aceita reserva em posição ocupada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725412" y="4462272"/>
            <a:ext cx="146304" cy="146304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36308" y="4288536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</a:rPr>
              <a:t>Aviso aos órgãos sai pronto a partir da reserva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725412" y="5175504"/>
            <a:ext cx="146304" cy="146304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36308" y="5001768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</a:rPr>
              <a:t>Fica registrado quem lançou e quando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384048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Fazendo uma reserva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308592" y="56692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DD511A"/>
          </a:solidFill>
          <a:ln w="12700">
            <a:solidFill>
              <a:srgbClr val="DD51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08592" y="5669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MOSTRAR NO APP</a:t>
            </a:r>
            <a:endParaRPr lang="en-US" sz="1100" dirty="0"/>
          </a:p>
        </p:txBody>
      </p:sp>
      <p:sp>
        <p:nvSpPr>
          <p:cNvPr id="5" name="passo0"/>
          <p:cNvSpPr/>
          <p:nvPr/>
        </p:nvSpPr>
        <p:spPr>
          <a:xfrm>
            <a:off x="685800" y="1417320"/>
            <a:ext cx="2430018" cy="2514600"/>
          </a:xfrm>
          <a:prstGeom prst="roundRect">
            <a:avLst>
              <a:gd name="adj" fmla="val 376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1691640"/>
            <a:ext cx="530352" cy="530352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395728"/>
            <a:ext cx="1881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Matrícula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3017520"/>
            <a:ext cx="1881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O app já sugere o equipamento da aeronave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179826" y="2560320"/>
            <a:ext cx="237744" cy="237744"/>
          </a:xfrm>
          <a:prstGeom prst="rightArrow">
            <a:avLst/>
          </a:prstGeom>
          <a:solidFill>
            <a:srgbClr val="B9D9DE"/>
          </a:solidFill>
          <a:ln w="12700">
            <a:solidFill>
              <a:srgbClr val="B9D9DE"/>
            </a:solidFill>
            <a:prstDash val="solid"/>
          </a:ln>
        </p:spPr>
      </p:sp>
      <p:sp>
        <p:nvSpPr>
          <p:cNvPr id="11" name="passo1"/>
          <p:cNvSpPr/>
          <p:nvPr/>
        </p:nvSpPr>
        <p:spPr>
          <a:xfrm>
            <a:off x="3481578" y="1417320"/>
            <a:ext cx="2430018" cy="2514600"/>
          </a:xfrm>
          <a:prstGeom prst="roundRect">
            <a:avLst>
              <a:gd name="adj" fmla="val 376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74186" y="1691640"/>
            <a:ext cx="530352" cy="530352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74186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74186" y="2395728"/>
            <a:ext cx="1881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Posição e horários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774186" y="3017520"/>
            <a:ext cx="1881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Data e hora de entrada e de saída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75604" y="2560320"/>
            <a:ext cx="237744" cy="237744"/>
          </a:xfrm>
          <a:prstGeom prst="rightArrow">
            <a:avLst/>
          </a:prstGeom>
          <a:solidFill>
            <a:srgbClr val="B9D9DE"/>
          </a:solidFill>
          <a:ln w="12700">
            <a:solidFill>
              <a:srgbClr val="B9D9DE"/>
            </a:solidFill>
            <a:prstDash val="solid"/>
          </a:ln>
        </p:spPr>
      </p:sp>
      <p:sp>
        <p:nvSpPr>
          <p:cNvPr id="17" name="passo2"/>
          <p:cNvSpPr/>
          <p:nvPr/>
        </p:nvSpPr>
        <p:spPr>
          <a:xfrm>
            <a:off x="6277356" y="1417320"/>
            <a:ext cx="2430018" cy="2514600"/>
          </a:xfrm>
          <a:prstGeom prst="roundRect">
            <a:avLst>
              <a:gd name="adj" fmla="val 376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9964" y="1691640"/>
            <a:ext cx="530352" cy="530352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69964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69964" y="2395728"/>
            <a:ext cx="1881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Internacional ou alternativa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69964" y="3017520"/>
            <a:ext cx="1881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Só marcar, quando for o caso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771382" y="2560320"/>
            <a:ext cx="237744" cy="237744"/>
          </a:xfrm>
          <a:prstGeom prst="rightArrow">
            <a:avLst/>
          </a:prstGeom>
          <a:solidFill>
            <a:srgbClr val="B9D9DE"/>
          </a:solidFill>
          <a:ln w="12700">
            <a:solidFill>
              <a:srgbClr val="B9D9DE"/>
            </a:solidFill>
            <a:prstDash val="solid"/>
          </a:ln>
        </p:spPr>
      </p:sp>
      <p:sp>
        <p:nvSpPr>
          <p:cNvPr id="23" name="passo3"/>
          <p:cNvSpPr/>
          <p:nvPr/>
        </p:nvSpPr>
        <p:spPr>
          <a:xfrm>
            <a:off x="9073134" y="1417320"/>
            <a:ext cx="2430018" cy="2514600"/>
          </a:xfrm>
          <a:prstGeom prst="roundRect">
            <a:avLst>
              <a:gd name="adj" fmla="val 376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65742" y="1691640"/>
            <a:ext cx="530352" cy="530352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65742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65742" y="2395728"/>
            <a:ext cx="1881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Salvar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365742" y="3017520"/>
            <a:ext cx="1881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A reserva já aparece na grade e no painel de reservas</a:t>
            </a:r>
            <a:endParaRPr lang="en-US" sz="1350" dirty="0"/>
          </a:p>
        </p:txBody>
      </p:sp>
      <p:sp>
        <p:nvSpPr>
          <p:cNvPr id="28" name="conflito"/>
          <p:cNvSpPr/>
          <p:nvPr/>
        </p:nvSpPr>
        <p:spPr>
          <a:xfrm>
            <a:off x="685800" y="4251960"/>
            <a:ext cx="10817352" cy="1554480"/>
          </a:xfrm>
          <a:prstGeom prst="roundRect">
            <a:avLst>
              <a:gd name="adj" fmla="val 5882"/>
            </a:avLst>
          </a:prstGeom>
          <a:solidFill>
            <a:srgbClr val="EAF5F6"/>
          </a:solidFill>
          <a:ln w="12700">
            <a:solidFill>
              <a:srgbClr val="9FC9D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97280" y="443484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8C"/>
                </a:solidFill>
              </a:rPr>
              <a:t>E se a posição já estiver ocupada?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4892040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F3F46"/>
                </a:solidFill>
              </a:rPr>
              <a:t>O app não grava. Ele mostra qual reserva ou voo está ocupando a posição naquele horário, para o operador escolher outra.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384048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Acompanhando o pátio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308592" y="56692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DD511A"/>
          </a:solidFill>
          <a:ln w="12700">
            <a:solidFill>
              <a:srgbClr val="DD51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08592" y="5669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MOSTRAR NO APP</a:t>
            </a:r>
            <a:endParaRPr lang="en-US" sz="1100" dirty="0"/>
          </a:p>
        </p:txBody>
      </p:sp>
      <p:sp>
        <p:nvSpPr>
          <p:cNvPr id="5" name="ctrl0"/>
          <p:cNvSpPr/>
          <p:nvPr/>
        </p:nvSpPr>
        <p:spPr>
          <a:xfrm>
            <a:off x="685800" y="1371600"/>
            <a:ext cx="5248656" cy="1298448"/>
          </a:xfrm>
          <a:prstGeom prst="roundRect">
            <a:avLst>
              <a:gd name="adj" fmla="val 704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1664208"/>
            <a:ext cx="182880" cy="182880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99032" y="1554480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Painel de reservas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399032" y="1975104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Todas as reservas futuras em uma lista, separadas por mês, com o dia de hoje destacado.</a:t>
            </a:r>
            <a:endParaRPr lang="en-US" sz="1350" dirty="0"/>
          </a:p>
        </p:txBody>
      </p:sp>
      <p:sp>
        <p:nvSpPr>
          <p:cNvPr id="9" name="ctrl1"/>
          <p:cNvSpPr/>
          <p:nvPr/>
        </p:nvSpPr>
        <p:spPr>
          <a:xfrm>
            <a:off x="6254496" y="1371600"/>
            <a:ext cx="5248656" cy="1298448"/>
          </a:xfrm>
          <a:prstGeom prst="roundRect">
            <a:avLst>
              <a:gd name="adj" fmla="val 704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01968" y="1664208"/>
            <a:ext cx="182880" cy="182880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67728" y="1554480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Filtro por situação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967728" y="1975104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Para ver só o que está previsto, no pátio ou finalizado.</a:t>
            </a:r>
            <a:endParaRPr lang="en-US" sz="1350" dirty="0"/>
          </a:p>
        </p:txBody>
      </p:sp>
      <p:sp>
        <p:nvSpPr>
          <p:cNvPr id="13" name="ctrl2"/>
          <p:cNvSpPr/>
          <p:nvPr/>
        </p:nvSpPr>
        <p:spPr>
          <a:xfrm>
            <a:off x="685800" y="2852928"/>
            <a:ext cx="5248656" cy="1298448"/>
          </a:xfrm>
          <a:prstGeom prst="roundRect">
            <a:avLst>
              <a:gd name="adj" fmla="val 704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" y="3145536"/>
            <a:ext cx="182880" cy="182880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99032" y="3035808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Ir ao dia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99032" y="3456432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Da lista para a grade daquele dia com um clique.</a:t>
            </a:r>
            <a:endParaRPr lang="en-US" sz="1350" dirty="0"/>
          </a:p>
        </p:txBody>
      </p:sp>
      <p:sp>
        <p:nvSpPr>
          <p:cNvPr id="17" name="ctrl3"/>
          <p:cNvSpPr/>
          <p:nvPr/>
        </p:nvSpPr>
        <p:spPr>
          <a:xfrm>
            <a:off x="6254496" y="2852928"/>
            <a:ext cx="5248656" cy="1298448"/>
          </a:xfrm>
          <a:prstGeom prst="roundRect">
            <a:avLst>
              <a:gd name="adj" fmla="val 704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01968" y="3145536"/>
            <a:ext cx="182880" cy="182880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67728" y="3035808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NO PÁTIO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967728" y="3456432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Quando a aeronave chega, o bloco muda e todo mundo fica sabendo.</a:t>
            </a:r>
            <a:endParaRPr lang="en-US" sz="1350" dirty="0"/>
          </a:p>
        </p:txBody>
      </p:sp>
      <p:sp>
        <p:nvSpPr>
          <p:cNvPr id="21" name="ctrl4"/>
          <p:cNvSpPr/>
          <p:nvPr/>
        </p:nvSpPr>
        <p:spPr>
          <a:xfrm>
            <a:off x="685800" y="4334256"/>
            <a:ext cx="5248656" cy="1298448"/>
          </a:xfrm>
          <a:prstGeom prst="roundRect">
            <a:avLst>
              <a:gd name="adj" fmla="val 704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3272" y="4626864"/>
            <a:ext cx="182880" cy="182880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99032" y="45171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Matrícula fora do padrão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399032" y="4937760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O app avisa quando o prefixo parece digitado errado, sem impedir de salvar.</a:t>
            </a:r>
            <a:endParaRPr lang="en-US" sz="1350" dirty="0"/>
          </a:p>
        </p:txBody>
      </p:sp>
      <p:sp>
        <p:nvSpPr>
          <p:cNvPr id="25" name="ctrl5"/>
          <p:cNvSpPr/>
          <p:nvPr/>
        </p:nvSpPr>
        <p:spPr>
          <a:xfrm>
            <a:off x="6254496" y="4334256"/>
            <a:ext cx="5248656" cy="1298448"/>
          </a:xfrm>
          <a:prstGeom prst="roundRect">
            <a:avLst>
              <a:gd name="adj" fmla="val 704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4626864"/>
            <a:ext cx="182880" cy="182880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67728" y="45171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Hangar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967728" y="4937760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Aeronave no hangar com painel próprio, entrada e saída registradas.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384048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Voo internacional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308592" y="56692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DD511A"/>
          </a:solidFill>
          <a:ln w="12700">
            <a:solidFill>
              <a:srgbClr val="DD51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08592" y="5669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MOSTRAR NO APP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Chegada ou saída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773936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Escolhe o sentido e o texto se ajusta.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2532888"/>
            <a:ext cx="457200" cy="457200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4871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Dados que já estão na reserva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88950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Aeronave, matrícula, operador, data e horário entram sozinhos.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3648456"/>
            <a:ext cx="457200" cy="457200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6027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O que falta, preenche ali mesmo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005072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Horário da imigração, procedência ou destino, tripulantes e passageiros.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4764024"/>
            <a:ext cx="457200" cy="457200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71830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Pronto para enviar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12064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Cartão para print ou texto para copiar. Depois de enviado, a reserva fica marcada.</a:t>
            </a:r>
            <a:endParaRPr lang="en-US" sz="1350" dirty="0"/>
          </a:p>
        </p:txBody>
      </p:sp>
      <p:sp>
        <p:nvSpPr>
          <p:cNvPr id="21" name="cartao"/>
          <p:cNvSpPr/>
          <p:nvPr/>
        </p:nvSpPr>
        <p:spPr>
          <a:xfrm>
            <a:off x="6537960" y="1325880"/>
            <a:ext cx="4965192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56248" y="1344168"/>
            <a:ext cx="4928616" cy="868680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141732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SOLICITAÇÃO DE AGENDAMENTO COM OS ÓRGÃOS FEDERAIS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1783080"/>
            <a:ext cx="4325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CEF"/>
                </a:solidFill>
              </a:rPr>
              <a:t>CHEGADA INTERNACIONAL  ·  Navegantes (SBNF)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246888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4748B"/>
                </a:solidFill>
              </a:rPr>
              <a:t>AERONAVE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2743200"/>
            <a:ext cx="4325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Cessna Citation, matrícula PR-ABC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218688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4748B"/>
                </a:solidFill>
              </a:rPr>
              <a:t>CHEGADA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3493008"/>
            <a:ext cx="4325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Sexta, 13/11  ·  imigração às 14:30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968496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4748B"/>
                </a:solidFill>
              </a:rPr>
              <a:t>PROCEDÊNCIA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4242816"/>
            <a:ext cx="4325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Punta del Este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4718304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4748B"/>
                </a:solidFill>
              </a:rPr>
              <a:t>DESEMBARQUE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4992624"/>
            <a:ext cx="4325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2 tripulantes e 4 passageiros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548640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exemplo ilustrativo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384048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Regras que o app aplica nas reservas</a:t>
            </a:r>
            <a:endParaRPr lang="en-US" sz="3400" dirty="0"/>
          </a:p>
        </p:txBody>
      </p:sp>
      <p:sp>
        <p:nvSpPr>
          <p:cNvPr id="3" name="regra0"/>
          <p:cNvSpPr/>
          <p:nvPr/>
        </p:nvSpPr>
        <p:spPr>
          <a:xfrm>
            <a:off x="685800" y="1325880"/>
            <a:ext cx="10817352" cy="585216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69848" y="132588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Reservar posição já ocupada no mesmo horário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988552" y="144475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88552" y="1444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NÃO DEIXA</a:t>
            </a:r>
            <a:endParaRPr lang="en-US" sz="1100" dirty="0"/>
          </a:p>
        </p:txBody>
      </p:sp>
      <p:sp>
        <p:nvSpPr>
          <p:cNvPr id="7" name="regra1"/>
          <p:cNvSpPr/>
          <p:nvPr/>
        </p:nvSpPr>
        <p:spPr>
          <a:xfrm>
            <a:off x="685800" y="2039112"/>
            <a:ext cx="10817352" cy="585216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" y="2039112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Aeronave mais comprida do que a posição aceita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88552" y="2157984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88552" y="21579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NÃO DEIXA</a:t>
            </a:r>
            <a:endParaRPr lang="en-US" sz="1100" dirty="0"/>
          </a:p>
        </p:txBody>
      </p:sp>
      <p:sp>
        <p:nvSpPr>
          <p:cNvPr id="11" name="regra2"/>
          <p:cNvSpPr/>
          <p:nvPr/>
        </p:nvSpPr>
        <p:spPr>
          <a:xfrm>
            <a:off x="685800" y="2752344"/>
            <a:ext cx="10817352" cy="585216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2752344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Reservar posição interditada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88552" y="2871216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88552" y="28712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NÃO DEIXA</a:t>
            </a:r>
            <a:endParaRPr lang="en-US" sz="1100" dirty="0"/>
          </a:p>
        </p:txBody>
      </p:sp>
      <p:sp>
        <p:nvSpPr>
          <p:cNvPr id="15" name="regra3"/>
          <p:cNvSpPr/>
          <p:nvPr/>
        </p:nvSpPr>
        <p:spPr>
          <a:xfrm>
            <a:off x="685800" y="3465576"/>
            <a:ext cx="10817352" cy="585216"/>
          </a:xfrm>
          <a:prstGeom prst="roundRect">
            <a:avLst>
              <a:gd name="adj" fmla="val 15625"/>
            </a:avLst>
          </a:prstGeom>
          <a:solidFill>
            <a:srgbClr val="EAF5F6"/>
          </a:solidFill>
          <a:ln w="12700">
            <a:solidFill>
              <a:srgbClr val="9FC9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3465576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Aeronave grande que ocupa mais do que o próprio box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88552" y="3584448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0A5A66"/>
          </a:solidFill>
          <a:ln w="12700">
            <a:solidFill>
              <a:srgbClr val="0A5A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88552" y="3584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BLOQUEIA AS VIZINHAS</a:t>
            </a:r>
            <a:endParaRPr lang="en-US" sz="1100" dirty="0"/>
          </a:p>
        </p:txBody>
      </p:sp>
      <p:sp>
        <p:nvSpPr>
          <p:cNvPr id="19" name="regra4"/>
          <p:cNvSpPr/>
          <p:nvPr/>
        </p:nvSpPr>
        <p:spPr>
          <a:xfrm>
            <a:off x="685800" y="4178808"/>
            <a:ext cx="10817352" cy="585216"/>
          </a:xfrm>
          <a:prstGeom prst="roundRect">
            <a:avLst>
              <a:gd name="adj" fmla="val 15625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69848" y="4178808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Envergadura acima do limite da posição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88552" y="429768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88552" y="42976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PEDE CONFIRMAÇÃO</a:t>
            </a:r>
            <a:endParaRPr lang="en-US" sz="1100" dirty="0"/>
          </a:p>
        </p:txBody>
      </p:sp>
      <p:sp>
        <p:nvSpPr>
          <p:cNvPr id="23" name="regra5"/>
          <p:cNvSpPr/>
          <p:nvPr/>
        </p:nvSpPr>
        <p:spPr>
          <a:xfrm>
            <a:off x="685800" y="4892040"/>
            <a:ext cx="10817352" cy="585216"/>
          </a:xfrm>
          <a:prstGeom prst="roundRect">
            <a:avLst>
              <a:gd name="adj" fmla="val 15625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69848" y="489204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Reserva de alternativa no mesmo box de outra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88552" y="501091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88552" y="5010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PEDE CONFIRMAÇÃO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7150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</a:rPr>
              <a:t>As medidas e os bloqueios vêm do cadastro de cada aeroporto.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384048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O voo regular fica no mesmo mapa</a:t>
            </a:r>
            <a:endParaRPr lang="en-US" sz="3400" dirty="0"/>
          </a:p>
        </p:txBody>
      </p:sp>
      <p:sp>
        <p:nvSpPr>
          <p:cNvPr id="3" name="grade"/>
          <p:cNvSpPr/>
          <p:nvPr/>
        </p:nvSpPr>
        <p:spPr>
          <a:xfrm>
            <a:off x="685800" y="1371600"/>
            <a:ext cx="5225796" cy="3749040"/>
          </a:xfrm>
          <a:prstGeom prst="roundRect">
            <a:avLst>
              <a:gd name="adj" fmla="val 243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prog"/>
          <p:cNvSpPr/>
          <p:nvPr/>
        </p:nvSpPr>
        <p:spPr>
          <a:xfrm>
            <a:off x="6277356" y="1371600"/>
            <a:ext cx="5225796" cy="3749040"/>
          </a:xfrm>
          <a:prstGeom prst="roundRect">
            <a:avLst>
              <a:gd name="adj" fmla="val 243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645920"/>
            <a:ext cx="4494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C"/>
                </a:solidFill>
              </a:rPr>
              <a:t>GRADE DO DIA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661404" y="1645920"/>
            <a:ext cx="4494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C"/>
                </a:solidFill>
              </a:rPr>
              <a:t>PROGRAMAÇÃO DAS COMPANHIAS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88136" y="2350008"/>
            <a:ext cx="146304" cy="146304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99032" y="2194560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Uma linha por posição e uma coluna por horário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088136" y="3127248"/>
            <a:ext cx="146304" cy="146304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99032" y="2971800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Voos e reservas da aviação geral juntos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088136" y="3904488"/>
            <a:ext cx="146304" cy="146304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99032" y="3749040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Trocar posição ou portão com dois cliques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088136" y="4681728"/>
            <a:ext cx="146304" cy="146304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99032" y="4526280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Cor da companhia e contorno do portão no bloco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679692" y="2350008"/>
            <a:ext cx="146304" cy="146304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0588" y="2194560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A programação do mês entra por planilha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679692" y="3127248"/>
            <a:ext cx="146304" cy="146304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90588" y="2971800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Pode reimportar quando a companhia mudar algo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679692" y="3904488"/>
            <a:ext cx="146304" cy="146304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90588" y="3749040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Ninguém precisa lançar voo a voo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384048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O que cada aeroporto precisa levantar</a:t>
            </a:r>
            <a:endParaRPr lang="en-US" sz="3400" dirty="0"/>
          </a:p>
        </p:txBody>
      </p:sp>
      <p:sp>
        <p:nvSpPr>
          <p:cNvPr id="3" name="item0"/>
          <p:cNvSpPr/>
          <p:nvPr/>
        </p:nvSpPr>
        <p:spPr>
          <a:xfrm>
            <a:off x="685800" y="1325880"/>
            <a:ext cx="10817352" cy="932688"/>
          </a:xfrm>
          <a:prstGeom prst="roundRect">
            <a:avLst>
              <a:gd name="adj" fmla="val 98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545336"/>
            <a:ext cx="493776" cy="493776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545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325880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C"/>
                </a:solidFill>
              </a:rPr>
              <a:t>Pátios e posições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325880"/>
            <a:ext cx="66111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Os boxes de cada pátio e a maior aeronave que cada um recebe. Normalmente já está no quadro de mix de aeronaves.</a:t>
            </a:r>
            <a:endParaRPr lang="en-US" sz="1450" dirty="0"/>
          </a:p>
        </p:txBody>
      </p:sp>
      <p:sp>
        <p:nvSpPr>
          <p:cNvPr id="8" name="item1"/>
          <p:cNvSpPr/>
          <p:nvPr/>
        </p:nvSpPr>
        <p:spPr>
          <a:xfrm>
            <a:off x="685800" y="2404872"/>
            <a:ext cx="10817352" cy="932688"/>
          </a:xfrm>
          <a:prstGeom prst="roundRect">
            <a:avLst>
              <a:gd name="adj" fmla="val 98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24328"/>
            <a:ext cx="493776" cy="493776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26243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404872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C"/>
                </a:solidFill>
              </a:rPr>
              <a:t>Restrições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404872"/>
            <a:ext cx="66111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Qual posição atrapalha a vizinha e qual aeronave não entra onde.</a:t>
            </a:r>
            <a:endParaRPr lang="en-US" sz="1450" dirty="0"/>
          </a:p>
        </p:txBody>
      </p:sp>
      <p:sp>
        <p:nvSpPr>
          <p:cNvPr id="13" name="item2"/>
          <p:cNvSpPr/>
          <p:nvPr/>
        </p:nvSpPr>
        <p:spPr>
          <a:xfrm>
            <a:off x="685800" y="3483864"/>
            <a:ext cx="10817352" cy="932688"/>
          </a:xfrm>
          <a:prstGeom prst="roundRect">
            <a:avLst>
              <a:gd name="adj" fmla="val 98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3703320"/>
            <a:ext cx="493776" cy="493776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37033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483864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C"/>
                </a:solidFill>
              </a:rPr>
              <a:t>Portões e pontes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483864"/>
            <a:ext cx="66111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Quais existem e quais posições atendem.</a:t>
            </a:r>
            <a:endParaRPr lang="en-US" sz="1450" dirty="0"/>
          </a:p>
        </p:txBody>
      </p:sp>
      <p:sp>
        <p:nvSpPr>
          <p:cNvPr id="18" name="item3"/>
          <p:cNvSpPr/>
          <p:nvPr/>
        </p:nvSpPr>
        <p:spPr>
          <a:xfrm>
            <a:off x="685800" y="4562856"/>
            <a:ext cx="10817352" cy="932688"/>
          </a:xfrm>
          <a:prstGeom prst="roundRect">
            <a:avLst>
              <a:gd name="adj" fmla="val 98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782312"/>
            <a:ext cx="493776" cy="493776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47823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4562856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C"/>
                </a:solidFill>
              </a:rPr>
              <a:t>Operadores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562856"/>
            <a:ext cx="66111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As companhias e os operadores de aviação geral que usam o aeroporto.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7150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C"/>
                </a:solidFill>
              </a:rPr>
              <a:t>Vou entrar em contato com cada aeroporto para fazer esse levantamento junto com a supervisão.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384048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O que eu preciso de vocês</a:t>
            </a:r>
            <a:endParaRPr lang="en-US" sz="3400" dirty="0"/>
          </a:p>
        </p:txBody>
      </p:sp>
      <p:sp>
        <p:nvSpPr>
          <p:cNvPr id="3" name="pedido0"/>
          <p:cNvSpPr/>
          <p:nvPr/>
        </p:nvSpPr>
        <p:spPr>
          <a:xfrm>
            <a:off x="685800" y="1371600"/>
            <a:ext cx="3422904" cy="2880360"/>
          </a:xfrm>
          <a:prstGeom prst="roundRect">
            <a:avLst>
              <a:gd name="adj" fmla="val 3175"/>
            </a:avLst>
          </a:prstGeom>
          <a:solidFill>
            <a:srgbClr val="EAF5F6"/>
          </a:solidFill>
          <a:ln w="12700">
            <a:solidFill>
              <a:srgbClr val="9FC9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91640"/>
            <a:ext cx="585216" cy="585216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487168"/>
            <a:ext cx="2691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3F46"/>
                </a:solidFill>
              </a:rPr>
              <a:t>Um contato na supervisão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291840"/>
            <a:ext cx="2691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565F"/>
                </a:solidFill>
              </a:rPr>
              <a:t>Para eu combinar o levantamento e tirar as dúvidas do dia a dia.</a:t>
            </a:r>
            <a:endParaRPr lang="en-US" sz="1400" dirty="0"/>
          </a:p>
        </p:txBody>
      </p:sp>
      <p:sp>
        <p:nvSpPr>
          <p:cNvPr id="8" name="pedido1"/>
          <p:cNvSpPr/>
          <p:nvPr/>
        </p:nvSpPr>
        <p:spPr>
          <a:xfrm>
            <a:off x="4383024" y="1371600"/>
            <a:ext cx="3422904" cy="2880360"/>
          </a:xfrm>
          <a:prstGeom prst="roundRect">
            <a:avLst>
              <a:gd name="adj" fmla="val 3175"/>
            </a:avLst>
          </a:prstGeom>
          <a:solidFill>
            <a:srgbClr val="EAF5F6"/>
          </a:solidFill>
          <a:ln w="12700">
            <a:solidFill>
              <a:srgbClr val="9FC9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48784" y="1691640"/>
            <a:ext cx="585216" cy="585216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48784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48784" y="2487168"/>
            <a:ext cx="2691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3F46"/>
                </a:solidFill>
              </a:rPr>
              <a:t>A ordem de entrada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748784" y="3291840"/>
            <a:ext cx="2691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565F"/>
                </a:solidFill>
              </a:rPr>
              <a:t>Qual aeroporto começa primeiro. Vamos um de cada vez.</a:t>
            </a:r>
            <a:endParaRPr lang="en-US" sz="1400" dirty="0"/>
          </a:p>
        </p:txBody>
      </p:sp>
      <p:sp>
        <p:nvSpPr>
          <p:cNvPr id="13" name="pedido2"/>
          <p:cNvSpPr/>
          <p:nvPr/>
        </p:nvSpPr>
        <p:spPr>
          <a:xfrm>
            <a:off x="8080248" y="1371600"/>
            <a:ext cx="3422904" cy="2880360"/>
          </a:xfrm>
          <a:prstGeom prst="roundRect">
            <a:avLst>
              <a:gd name="adj" fmla="val 3175"/>
            </a:avLst>
          </a:prstGeom>
          <a:solidFill>
            <a:srgbClr val="EAF5F6"/>
          </a:solidFill>
          <a:ln w="12700">
            <a:solidFill>
              <a:srgbClr val="9FC9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6008" y="1691640"/>
            <a:ext cx="585216" cy="585216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46008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446008" y="2487168"/>
            <a:ext cx="2691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3F46"/>
                </a:solidFill>
              </a:rPr>
              <a:t>Como funciona hoje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446008" y="3291840"/>
            <a:ext cx="2691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565F"/>
                </a:solidFill>
              </a:rPr>
              <a:t>Como cada aeroporto faz a reserva de aviação geral hoje, para a implantação respeitar isso.</a:t>
            </a:r>
            <a:endParaRPr lang="en-US" sz="1400" dirty="0"/>
          </a:p>
        </p:txBody>
      </p:sp>
      <p:sp>
        <p:nvSpPr>
          <p:cNvPr id="18" name="compromisso"/>
          <p:cNvSpPr/>
          <p:nvPr/>
        </p:nvSpPr>
        <p:spPr>
          <a:xfrm>
            <a:off x="685800" y="4572000"/>
            <a:ext cx="10817352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7280" y="4572000"/>
            <a:ext cx="9994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C"/>
                </a:solidFill>
              </a:rPr>
              <a:t>Da minha parte: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faço o cadastro junto com a supervisão e acompanho de perto o primeiro mês de uso.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23317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7FB3BC"/>
                </a:solidFill>
              </a:rPr>
              <a:t>OBRIGADO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8346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Dúvidas?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41605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D9DE"/>
                </a:solidFill>
              </a:rPr>
              <a:t>Mapa de Alocação  ·  AirportNow  ·  ASUR BRASIL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UR Mapa de Alocação">
  <a:themeElements>
    <a:clrScheme name="ASUR Mapa de Alocação">
      <a:dk1>
        <a:srgbClr val="1E293B"/>
      </a:dk1>
      <a:lt1>
        <a:srgbClr val="FFFFFF"/>
      </a:lt1>
      <a:dk2>
        <a:srgbClr val="0A5A66"/>
      </a:dk2>
      <a:lt2>
        <a:srgbClr val="F1F5F9"/>
      </a:lt2>
      <a:accent1>
        <a:srgbClr val="0E7C8C"/>
      </a:accent1>
      <a:accent2>
        <a:srgbClr val="0891B2"/>
      </a:accent2>
      <a:accent3>
        <a:srgbClr val="B9D9DE"/>
      </a:accent3>
      <a:accent4>
        <a:srgbClr val="DD511A"/>
      </a:accent4>
      <a:accent5>
        <a:srgbClr val="16A34A"/>
      </a:accent5>
      <a:accent6>
        <a:srgbClr val="64748B"/>
      </a:accent6>
      <a:hlink>
        <a:srgbClr val="0E7C8C"/>
      </a:hlink>
      <a:folHlink>
        <a:srgbClr val="64748B"/>
      </a:folHlink>
    </a:clrScheme>
    <a:fontScheme name="ASUR Mapa de Alocaçã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ASUR BRASIL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Mapa de Alocação - AirportNow</dc:title>
  <dc:subject>PptxGenJS Presentation</dc:subject>
  <dc:creator>Douglas</dc:creator>
  <cp:lastModifiedBy>Douglas</cp:lastModifiedBy>
  <cp:revision>1</cp:revision>
  <dcterms:created xsi:type="dcterms:W3CDTF">2026-10-28T19:58:32Z</dcterms:created>
  <dcterms:modified xsi:type="dcterms:W3CDTF">2026-10-28T19:58:32Z</dcterms:modified>
</cp:coreProperties>
</file>